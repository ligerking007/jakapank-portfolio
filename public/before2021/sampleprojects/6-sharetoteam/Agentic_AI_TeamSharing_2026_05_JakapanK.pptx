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เปิด presentation:</a:t>
            </a:r>
            <a:br/>
            <a:r>
              <a:t>วันนี้จะมาแชร์เรื่อง Agentic AI ซึ่งเป็น evolution ถัดไปของ AI</a:t>
            </a:r>
            <a:br/>
            <a:r>
              <a:t>จากเดิมที่ AI แค่ตอบคำถาม</a:t>
            </a:r>
            <a:br/>
            <a:r>
              <a:t>ตอนนี้ AI เริ่มสามารถ “ลงมือทำงาน” ได้แล้ว</a:t>
            </a:r>
            <a:br/>
            <a:r>
              <a:t>เช่น analyze logs, summarize incidents หรือ execute workflow ได้แบบอัตโนมัติ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อธิบาย evolution ของ AI:</a:t>
            </a:r>
            <a:br/>
            <a:r>
              <a:t>Traditional AI คือ rule-based</a:t>
            </a:r>
            <a:br/>
            <a:r>
              <a:t>Generative AI คือสร้าง content เช่น code หรือ summary</a:t>
            </a:r>
            <a:br/>
            <a:r>
              <a:t>แต่ Agentic AI ต่างออกไป เพราะสามารถ plan workflow และ execute task หลาย step ได้เอง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Generative AI ส่วนใหญ่ยังรอให้คนสั่ง</a:t>
            </a:r>
            <a:br/>
            <a:r>
              <a:t>แต่ Agentic AI สามารถคิดเป็น workflow ได้</a:t>
            </a:r>
            <a:br/>
            <a:r>
              <a:t>เช่น detect issue → analyze logs → summarize → notify Teams</a:t>
            </a:r>
            <a:br/>
            <a:r>
              <a:t>จุดสำคัญคือ AI เริ่มใช้ tools และ APIs ได้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อธิบาย architecture ง่ายๆ:</a:t>
            </a:r>
            <a:br/>
            <a:r>
              <a:t>เมื่อมี trigger เช่น production error</a:t>
            </a:r>
            <a:br/>
            <a:r>
              <a:t>AI agent จะวางแผน ใช้ tools ต่างๆ เช่น database, logs หรือ APIs</a:t>
            </a:r>
            <a:br/>
            <a:r>
              <a:t>จากนั้น execute workflow และ generate action/result กลับมา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Use cases เหล่านี้เริ่มใช้จริงในหลายองค์กรแล้ว</a:t>
            </a:r>
            <a:br/>
            <a:r>
              <a:t>โดยเฉพาะ healthcare และ telemedicine</a:t>
            </a:r>
            <a:br/>
            <a:r>
              <a:t>เช่น AI summarize consultation</a:t>
            </a:r>
            <a:br/>
            <a:r>
              <a:t>หรือ AI analyze incident logs เพื่อลดเวลา troubleshooting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สไลด์นี้เป็น use case ที่เหมาะกับทีมเรามาก</a:t>
            </a:r>
            <a:br/>
            <a:r>
              <a:t>ปัจจุบัน developer ต้องเปิด logs และ investigate เอง</a:t>
            </a:r>
            <a:br/>
            <a:r>
              <a:t>แต่ Agentic AI สามารถช่วย summarize root cause และ notify ทีมได้อัตโนมัติ</a:t>
            </a:r>
            <a:br/>
            <a:r>
              <a:t>ช่วยลดเวลาการ debug ได้มาก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ตัวอย่าง output จริงที่ AI สามารถ generate ได้</a:t>
            </a:r>
            <a:br/>
            <a:r>
              <a:t>เช่น identify root cause ว่า external API ส่ง HTML แทน JSON</a:t>
            </a:r>
            <a:br/>
            <a:r>
              <a:t>พร้อม suggested actions</a:t>
            </a:r>
            <a:br/>
            <a:r>
              <a:t>AI จะช่วย support troubleshooting ได้เร็วขึ้นมาก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Impact ต่อแต่ละ role:</a:t>
            </a:r>
            <a:br/>
            <a:r>
              <a:t>Developer debug เร็วขึ้น</a:t>
            </a:r>
            <a:br/>
            <a:r>
              <a:t>Data Analyst ได้ auto SQL และ anomaly detection</a:t>
            </a:r>
            <a:br/>
            <a:r>
              <a:t>BA ใช้ summarize meeting และ generate BRD</a:t>
            </a:r>
            <a:br/>
            <a:r>
              <a:t>Manager ได้ visibility และ reporting ที่เร็วขึ้น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Technology stack นี้เหมาะกับสาย Microsoft/.NET</a:t>
            </a:r>
            <a:br/>
            <a:r>
              <a:t>โดยเฉพาะ Azure OpenAI + Semantic Kernel</a:t>
            </a:r>
            <a:br/>
            <a:r>
              <a:t>สามารถ integrate กับ App Insights และ Teams ได้ง่าย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แนะนำว่าอย่าเริ่มใหญ่</a:t>
            </a:r>
            <a:br/>
            <a:r>
              <a:t>เริ่มจาก small workflow ก่อน</a:t>
            </a:r>
            <a:br/>
            <a:r>
              <a:t>เช่น summarize logs หรือ meeting summaries</a:t>
            </a:r>
            <a:br/>
            <a:r>
              <a:t>จากนั้นค่อย scale ไป automation และ agent workflows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defRPr sz="1400"/>
            </a:pPr>
            <a:r>
              <a:t>สำคัญมาก:</a:t>
            </a:r>
            <a:br/>
            <a:r>
              <a:t>AI ยัง hallucinate ได้</a:t>
            </a:r>
            <a:br/>
            <a:r>
              <a:t>โดยเฉพาะ healthcare และ production systems</a:t>
            </a:r>
            <a:br/>
            <a:r>
              <a:t>ดังนั้น AI ควรเป็น assistant ไม่ใช่ decision maker</a:t>
            </a:r>
            <a:br/>
            <a:r>
              <a:t>ยังต้องมี human validation เสมอ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ปิดท้ายด้วย key takeaway:</a:t>
            </a:r>
          </a:p>
          <a:p>
            <a:r>
              <a:t>AI กำลังเปลี่ยนจากการตอบคำถาม ไปสู่การ execute workflow จริง</a:t>
            </a:r>
          </a:p>
          <a:p>
            <a:r>
              <a:t>และอนาคตจะไม่ใช่ AI มาแทนมนุษย์</a:t>
            </a:r>
          </a:p>
          <a:p>
            <a:r>
              <a:t>แต่เป็นมนุษย์ที่ทำงานร่วมกับ AI agents ได้อย่างมีประสิทธิภาพ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อธิบาย architecture แบบง่ายๆ:</a:t>
            </a:r>
          </a:p>
          <a:p>
            <a:r>
              <a:t>เมื่อมี production error หรือ logs ใหม่เข้ามา</a:t>
            </a:r>
          </a:p>
          <a:p>
            <a:r>
              <a:t>AI Agent จะดึง logs มาวิเคราะห์</a:t>
            </a:r>
          </a:p>
          <a:p>
            <a:r>
              <a:t>จากนั้น summarize root cause และ notify Teams อัตโนมัติ</a:t>
            </a:r>
          </a:p>
          <a:p>
            <a:r>
              <a:t>นี่คือจุดที่ AI เริ่ม perform operational workflows จริง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image" Target="../media/image-4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474720" y="-1371600"/>
            <a:ext cx="5486400" cy="5486400"/>
          </a:xfrm>
          <a:prstGeom prst="ellipse">
            <a:avLst/>
          </a:prstGeom>
          <a:solidFill>
            <a:srgbClr val="00C9A7">
              <a:alpha val="10000"/>
            </a:srgbClr>
          </a:solidFill>
          <a:ln w="12700">
            <a:solidFill>
              <a:srgbClr val="00C9A7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303520" y="-457200"/>
            <a:ext cx="3657600" cy="3657600"/>
          </a:xfrm>
          <a:prstGeom prst="ellipse">
            <a:avLst/>
          </a:prstGeom>
          <a:solidFill>
            <a:srgbClr val="00C9A7">
              <a:alpha val="15000"/>
            </a:srgbClr>
          </a:solidFill>
          <a:ln w="12700">
            <a:solidFill>
              <a:srgbClr val="00C9A7">
                <a:alpha val="20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-1371600" y="1303020"/>
            <a:ext cx="3657600" cy="3657600"/>
          </a:xfrm>
          <a:prstGeom prst="ellipse">
            <a:avLst/>
          </a:prstGeom>
          <a:solidFill>
            <a:srgbClr val="00C9A7">
              <a:alpha val="10000"/>
            </a:srgbClr>
          </a:solidFill>
          <a:ln w="12700">
            <a:solidFill>
              <a:srgbClr val="00C9A7">
                <a:alpha val="15000"/>
              </a:srgbClr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15200" y="640080"/>
            <a:ext cx="1463040" cy="14630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411480" y="502920"/>
            <a:ext cx="6858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</a:t>
            </a:r>
            <a:endParaRPr lang="en-US" sz="5400" dirty="0"/>
          </a:p>
        </p:txBody>
      </p:sp>
      <p:sp>
        <p:nvSpPr>
          <p:cNvPr id="8" name="Text 5"/>
          <p:cNvSpPr/>
          <p:nvPr/>
        </p:nvSpPr>
        <p:spPr>
          <a:xfrm>
            <a:off x="411480" y="16916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Evolution of AI</a:t>
            </a:r>
            <a:endParaRPr lang="en-US" sz="2000" dirty="0"/>
          </a:p>
          <a:p>
            <a:pPr indent="0" marL="0">
              <a:buNone/>
            </a:pPr>
            <a:r>
              <a:rPr lang="en-US" sz="20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Software &amp; Healthcare</a:t>
            </a:r>
            <a:endParaRPr lang="en-US" sz="2000" dirty="0"/>
          </a:p>
        </p:txBody>
      </p:sp>
      <p:sp>
        <p:nvSpPr>
          <p:cNvPr id="9" name="Text 6"/>
          <p:cNvSpPr/>
          <p:nvPr/>
        </p:nvSpPr>
        <p:spPr>
          <a:xfrm>
            <a:off x="411480" y="269748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 "Answering Questions"  →  "Taking Actions"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411480" y="3291840"/>
            <a:ext cx="2011680" cy="457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11480" y="3520440"/>
            <a:ext cx="5486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5-Min Team Sharing  ·  2026</a:t>
            </a:r>
            <a:endParaRPr lang="en-US" sz="1300" dirty="0"/>
          </a:p>
        </p:txBody>
      </p:sp>
      <p:sp>
        <p:nvSpPr>
          <p:cNvPr id="12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1/12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4850892"/>
            <a:ext cx="182880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 i="1">
                <a:solidFill>
                  <a:srgbClr val="64748B"/>
                </a:solidFill>
              </a:rPr>
              <a:t>by Jakapan Kanta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 of AI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194560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84048" y="868680"/>
            <a:ext cx="20848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468880" y="868680"/>
            <a:ext cx="2743200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578608" y="868680"/>
            <a:ext cx="26334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212080" y="868680"/>
            <a:ext cx="3931920" cy="47548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5321808" y="868680"/>
            <a:ext cx="382219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74320" y="1344168"/>
            <a:ext cx="2194560" cy="914400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>
            <a:off x="2468880" y="1344168"/>
            <a:ext cx="274320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>
            <a:off x="5212080" y="1344168"/>
            <a:ext cx="3931920" cy="914400"/>
          </a:xfrm>
          <a:prstGeom prst="rect">
            <a:avLst/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84048" y="138988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Traditional AI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578608" y="138988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rules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5321808" y="138988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 when API fails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" y="2395728"/>
            <a:ext cx="2194560" cy="914400"/>
          </a:xfrm>
          <a:prstGeom prst="rect">
            <a:avLst/>
          </a:prstGeom>
          <a:solidFill>
            <a:srgbClr val="F0FDF4"/>
          </a:solidFill>
          <a:ln w="254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2468880" y="2395728"/>
            <a:ext cx="274320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5212080" y="2395728"/>
            <a:ext cx="3931920" cy="914400"/>
          </a:xfrm>
          <a:prstGeom prst="rect">
            <a:avLst/>
          </a:prstGeom>
          <a:solidFill>
            <a:srgbClr val="F0FDF4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384048" y="244144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578608" y="244144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content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321808" y="244144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SQL / summarize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274320" y="3447288"/>
            <a:ext cx="2194560" cy="914400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3" name="Shape 21"/>
          <p:cNvSpPr/>
          <p:nvPr/>
        </p:nvSpPr>
        <p:spPr>
          <a:xfrm>
            <a:off x="2468880" y="3447288"/>
            <a:ext cx="274320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5212080" y="3447288"/>
            <a:ext cx="3931920" cy="914400"/>
          </a:xfrm>
          <a:prstGeom prst="rect">
            <a:avLst/>
          </a:prstGeom>
          <a:solidFill>
            <a:srgbClr val="FFF7ED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384048" y="3493008"/>
            <a:ext cx="2011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⭐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2578608" y="3493008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+ Act autonomously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5321808" y="3493008"/>
            <a:ext cx="3749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logs → notify team</a:t>
            </a:r>
            <a:endParaRPr lang="en-US" sz="1300" dirty="0"/>
          </a:p>
        </p:txBody>
      </p:sp>
      <p:sp>
        <p:nvSpPr>
          <p:cNvPr id="28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2/12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 vs Agentic AI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393192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22960"/>
            <a:ext cx="393192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82296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Generative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444752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749808" y="1389888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text/code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7200" y="1920240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49808" y="1865376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Responds to prompts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395728"/>
            <a:ext cx="201168" cy="201168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749808" y="2340864"/>
            <a:ext cx="3291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Human-driven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356616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57200" y="310896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3401568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"Generate SQL query"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892040" y="822960"/>
            <a:ext cx="3977640" cy="4023360"/>
          </a:xfrm>
          <a:prstGeom prst="rect">
            <a:avLst/>
          </a:prstGeom>
          <a:solidFill>
            <a:srgbClr val="FFFFFF"/>
          </a:solidFill>
          <a:ln w="19050">
            <a:solidFill>
              <a:srgbClr val="00C9A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892040" y="822960"/>
            <a:ext cx="3977640" cy="457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83480" y="822960"/>
            <a:ext cx="3794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⭐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5047488" y="1444752"/>
            <a:ext cx="201168" cy="201168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5340096" y="1389888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Plans workflows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47488" y="1920240"/>
            <a:ext cx="201168" cy="201168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5340096" y="1865376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Uses tools/APIs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47488" y="2395728"/>
            <a:ext cx="201168" cy="201168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340096" y="2340864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Executes multiple steps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5047488" y="2871216"/>
            <a:ext cx="201168" cy="201168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5340096" y="2816352"/>
            <a:ext cx="3383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semi-autonomously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047488" y="3383280"/>
            <a:ext cx="3657600" cy="36576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5047488" y="34930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047488" y="3767328"/>
            <a:ext cx="3657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00A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issue → analyze logs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00A88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summarize root cause → notify Teams</a:t>
            </a:r>
            <a:endParaRPr lang="en-US" sz="1200" dirty="0"/>
          </a:p>
        </p:txBody>
      </p:sp>
      <p:sp>
        <p:nvSpPr>
          <p:cNvPr id="30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3/12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Workflow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777240" y="914400"/>
            <a:ext cx="1051560" cy="128016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77240" y="914400"/>
            <a:ext cx="10515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 / Event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1828800" y="1481328"/>
            <a:ext cx="25603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1920240" y="138988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084832" y="914400"/>
            <a:ext cx="1051560" cy="128016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084832" y="914400"/>
            <a:ext cx="10515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136392" y="1481328"/>
            <a:ext cx="25603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227832" y="138988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392424" y="914400"/>
            <a:ext cx="1051560" cy="128016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3392424" y="914400"/>
            <a:ext cx="10515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&amp; Reasoning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43984" y="1481328"/>
            <a:ext cx="25603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35424" y="138988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0016" y="914400"/>
            <a:ext cx="1051560" cy="128016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4700016" y="914400"/>
            <a:ext cx="10515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Tools / APIs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751576" y="1481328"/>
            <a:ext cx="25603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5843016" y="138988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007608" y="914400"/>
            <a:ext cx="1051560" cy="12801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6007608" y="914400"/>
            <a:ext cx="10515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Execute Workflow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059168" y="1481328"/>
            <a:ext cx="25603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7150608" y="1389888"/>
            <a:ext cx="182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7315200" y="914400"/>
            <a:ext cx="1051560" cy="128016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7315200" y="914400"/>
            <a:ext cx="1051560" cy="1280160"/>
          </a:xfrm>
          <a:prstGeom prst="rect">
            <a:avLst/>
          </a:prstGeom>
          <a:noFill/>
          <a:ln/>
        </p:spPr>
        <p:txBody>
          <a:bodyPr wrap="square" lIns="50800" tIns="50800" rIns="50800" bIns="5080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Action / Result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274320" y="2514600"/>
            <a:ext cx="8595360" cy="384048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411480" y="25146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Capabilities</a:t>
            </a:r>
            <a:endParaRPr lang="en-US" sz="1300" dirty="0"/>
          </a:p>
        </p:txBody>
      </p:sp>
      <p:pic>
        <p:nvPicPr>
          <p:cNvPr id="2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3108960"/>
            <a:ext cx="411480" cy="411480"/>
          </a:xfrm>
          <a:prstGeom prst="rect">
            <a:avLst/>
          </a:prstGeom>
        </p:spPr>
      </p:pic>
      <p:sp>
        <p:nvSpPr>
          <p:cNvPr id="29" name="Text 26"/>
          <p:cNvSpPr/>
          <p:nvPr/>
        </p:nvSpPr>
        <p:spPr>
          <a:xfrm>
            <a:off x="1097280" y="36118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</a:t>
            </a:r>
            <a:endParaRPr lang="en-US" sz="1200" dirty="0"/>
          </a:p>
        </p:txBody>
      </p:sp>
      <p:pic>
        <p:nvPicPr>
          <p:cNvPr id="3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3108960"/>
            <a:ext cx="411480" cy="41148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3017520" y="36118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Memory</a:t>
            </a:r>
            <a:endParaRPr lang="en-US" sz="1200" dirty="0"/>
          </a:p>
        </p:txBody>
      </p:sp>
      <p:pic>
        <p:nvPicPr>
          <p:cNvPr id="3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12080" y="3108960"/>
            <a:ext cx="411480" cy="411480"/>
          </a:xfrm>
          <a:prstGeom prst="rect">
            <a:avLst/>
          </a:prstGeom>
        </p:spPr>
      </p:pic>
      <p:sp>
        <p:nvSpPr>
          <p:cNvPr id="33" name="Text 28"/>
          <p:cNvSpPr/>
          <p:nvPr/>
        </p:nvSpPr>
        <p:spPr>
          <a:xfrm>
            <a:off x="4937760" y="36118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Usage</a:t>
            </a:r>
            <a:endParaRPr lang="en-US" sz="1200" dirty="0"/>
          </a:p>
        </p:txBody>
      </p:sp>
      <p:pic>
        <p:nvPicPr>
          <p:cNvPr id="3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0" y="3108960"/>
            <a:ext cx="411480" cy="411480"/>
          </a:xfrm>
          <a:prstGeom prst="rect">
            <a:avLst/>
          </a:prstGeom>
        </p:spPr>
      </p:pic>
      <p:sp>
        <p:nvSpPr>
          <p:cNvPr id="35" name="Text 29"/>
          <p:cNvSpPr/>
          <p:nvPr/>
        </p:nvSpPr>
        <p:spPr>
          <a:xfrm>
            <a:off x="6858000" y="3611880"/>
            <a:ext cx="10972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Multi-step Execution</a:t>
            </a:r>
            <a:endParaRPr lang="en-US" sz="1200" dirty="0"/>
          </a:p>
        </p:txBody>
      </p:sp>
      <p:sp>
        <p:nvSpPr>
          <p:cNvPr id="36" name="Shape 30"/>
          <p:cNvSpPr/>
          <p:nvPr/>
        </p:nvSpPr>
        <p:spPr>
          <a:xfrm>
            <a:off x="1444752" y="3090672"/>
            <a:ext cx="438912" cy="438912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pic>
        <p:nvPicPr>
          <p:cNvPr id="37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44752" y="3090672"/>
            <a:ext cx="438912" cy="438912"/>
          </a:xfrm>
          <a:prstGeom prst="rect">
            <a:avLst/>
          </a:prstGeom>
        </p:spPr>
      </p:pic>
      <p:sp>
        <p:nvSpPr>
          <p:cNvPr id="38" name="Shape 31"/>
          <p:cNvSpPr/>
          <p:nvPr/>
        </p:nvSpPr>
        <p:spPr>
          <a:xfrm>
            <a:off x="3364992" y="3090672"/>
            <a:ext cx="438912" cy="438912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64992" y="3090672"/>
            <a:ext cx="438912" cy="438912"/>
          </a:xfrm>
          <a:prstGeom prst="rect">
            <a:avLst/>
          </a:prstGeom>
        </p:spPr>
      </p:pic>
      <p:sp>
        <p:nvSpPr>
          <p:cNvPr id="40" name="Shape 32"/>
          <p:cNvSpPr/>
          <p:nvPr/>
        </p:nvSpPr>
        <p:spPr>
          <a:xfrm>
            <a:off x="5285232" y="3090672"/>
            <a:ext cx="438912" cy="438912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pic>
        <p:nvPicPr>
          <p:cNvPr id="41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285232" y="3090672"/>
            <a:ext cx="438912" cy="438912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7205472" y="3090672"/>
            <a:ext cx="438912" cy="438912"/>
          </a:xfrm>
          <a:prstGeom prst="ellipse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pic>
        <p:nvPicPr>
          <p:cNvPr id="4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205472" y="3090672"/>
            <a:ext cx="438912" cy="438912"/>
          </a:xfrm>
          <a:prstGeom prst="rect">
            <a:avLst/>
          </a:prstGeom>
        </p:spPr>
      </p:pic>
      <p:sp>
        <p:nvSpPr>
          <p:cNvPr id="44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4/12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Use Cases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22960"/>
            <a:ext cx="2834640" cy="4023360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22960"/>
            <a:ext cx="2834640" cy="47548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11480" y="886968"/>
            <a:ext cx="347472" cy="34747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886968"/>
            <a:ext cx="347472" cy="347472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41248" y="822960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Incident Investigation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475488" y="1508760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31520" y="144475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Analyze production logs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475488" y="2167128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731520" y="21031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root cause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475488" y="2825496"/>
            <a:ext cx="164592" cy="164592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731520" y="276148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incident summary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3227832" y="822960"/>
            <a:ext cx="2834640" cy="4023360"/>
          </a:xfrm>
          <a:prstGeom prst="rect">
            <a:avLst/>
          </a:prstGeom>
          <a:solidFill>
            <a:srgbClr val="F0FDF4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6" name="Shape 13"/>
          <p:cNvSpPr/>
          <p:nvPr/>
        </p:nvSpPr>
        <p:spPr>
          <a:xfrm>
            <a:off x="3227832" y="822960"/>
            <a:ext cx="2834640" cy="4754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7" name="Shape 14"/>
          <p:cNvSpPr/>
          <p:nvPr/>
        </p:nvSpPr>
        <p:spPr>
          <a:xfrm>
            <a:off x="3364992" y="886968"/>
            <a:ext cx="347472" cy="34747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4992" y="886968"/>
            <a:ext cx="347472" cy="347472"/>
          </a:xfrm>
          <a:prstGeom prst="rect">
            <a:avLst/>
          </a:prstGeom>
        </p:spPr>
      </p:pic>
      <p:sp>
        <p:nvSpPr>
          <p:cNvPr id="19" name="Text 15"/>
          <p:cNvSpPr/>
          <p:nvPr/>
        </p:nvSpPr>
        <p:spPr>
          <a:xfrm>
            <a:off x="3794760" y="822960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Telemed Summary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429000" y="1508760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3685032" y="144475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consultations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3429000" y="2167128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3685032" y="21031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symptoms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3429000" y="2825496"/>
            <a:ext cx="164592" cy="16459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3685032" y="276148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SOAP notes</a:t>
            </a:r>
            <a:endParaRPr lang="en-US" sz="1200" dirty="0"/>
          </a:p>
        </p:txBody>
      </p:sp>
      <p:sp>
        <p:nvSpPr>
          <p:cNvPr id="26" name="Shape 22"/>
          <p:cNvSpPr/>
          <p:nvPr/>
        </p:nvSpPr>
        <p:spPr>
          <a:xfrm>
            <a:off x="6181344" y="822960"/>
            <a:ext cx="2834640" cy="4023360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7" name="Shape 23"/>
          <p:cNvSpPr/>
          <p:nvPr/>
        </p:nvSpPr>
        <p:spPr>
          <a:xfrm>
            <a:off x="6181344" y="822960"/>
            <a:ext cx="2834640" cy="47548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8" name="Shape 24"/>
          <p:cNvSpPr/>
          <p:nvPr/>
        </p:nvSpPr>
        <p:spPr>
          <a:xfrm>
            <a:off x="6318504" y="886968"/>
            <a:ext cx="347472" cy="347472"/>
          </a:xfrm>
          <a:prstGeom prst="ellipse">
            <a:avLst/>
          </a:prstGeom>
          <a:solidFill>
            <a:srgbClr val="FFFFFF">
              <a:alpha val="70000"/>
            </a:srgbClr>
          </a:solidFill>
          <a:ln w="12700">
            <a:solidFill>
              <a:srgbClr val="FFFFFF">
                <a:alpha val="70000"/>
              </a:srgbClr>
            </a:solidFill>
            <a:prstDash val="solid"/>
          </a:ln>
        </p:spPr>
        <p:txBody>
          <a:bodyPr/>
          <a:p/>
        </p:txBody>
      </p:sp>
      <p:pic>
        <p:nvPicPr>
          <p:cNvPr id="2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18504" y="886968"/>
            <a:ext cx="347472" cy="347472"/>
          </a:xfrm>
          <a:prstGeom prst="rect">
            <a:avLst/>
          </a:prstGeom>
        </p:spPr>
      </p:pic>
      <p:sp>
        <p:nvSpPr>
          <p:cNvPr id="30" name="Text 25"/>
          <p:cNvSpPr/>
          <p:nvPr/>
        </p:nvSpPr>
        <p:spPr>
          <a:xfrm>
            <a:off x="6748272" y="822960"/>
            <a:ext cx="217627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Appointment Agent</a:t>
            </a:r>
            <a:endParaRPr lang="en-US" sz="1200" dirty="0"/>
          </a:p>
        </p:txBody>
      </p:sp>
      <p:sp>
        <p:nvSpPr>
          <p:cNvPr id="31" name="Shape 26"/>
          <p:cNvSpPr/>
          <p:nvPr/>
        </p:nvSpPr>
        <p:spPr>
          <a:xfrm>
            <a:off x="6382512" y="1508760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32" name="Text 27"/>
          <p:cNvSpPr/>
          <p:nvPr/>
        </p:nvSpPr>
        <p:spPr>
          <a:xfrm>
            <a:off x="6638544" y="1444752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missed appointments</a:t>
            </a:r>
            <a:endParaRPr lang="en-US" sz="1200" dirty="0"/>
          </a:p>
        </p:txBody>
      </p:sp>
      <p:sp>
        <p:nvSpPr>
          <p:cNvPr id="33" name="Shape 28"/>
          <p:cNvSpPr/>
          <p:nvPr/>
        </p:nvSpPr>
        <p:spPr>
          <a:xfrm>
            <a:off x="6382512" y="2167128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34" name="Text 29"/>
          <p:cNvSpPr/>
          <p:nvPr/>
        </p:nvSpPr>
        <p:spPr>
          <a:xfrm>
            <a:off x="6638544" y="21031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reminders</a:t>
            </a:r>
            <a:endParaRPr lang="en-US" sz="1200" dirty="0"/>
          </a:p>
        </p:txBody>
      </p:sp>
      <p:sp>
        <p:nvSpPr>
          <p:cNvPr id="35" name="Shape 30"/>
          <p:cNvSpPr/>
          <p:nvPr/>
        </p:nvSpPr>
        <p:spPr>
          <a:xfrm>
            <a:off x="6382512" y="2825496"/>
            <a:ext cx="164592" cy="164592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36" name="Text 31"/>
          <p:cNvSpPr/>
          <p:nvPr/>
        </p:nvSpPr>
        <p:spPr>
          <a:xfrm>
            <a:off x="6638544" y="2761488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workflows</a:t>
            </a:r>
            <a:endParaRPr lang="en-US" sz="1200" dirty="0"/>
          </a:p>
        </p:txBody>
      </p:sp>
      <p:sp>
        <p:nvSpPr>
          <p:cNvPr id="37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5/12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 AI Log Analysis Agent ⭐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3657600" cy="3886200"/>
          </a:xfrm>
          <a:prstGeom prst="rect">
            <a:avLst/>
          </a:prstGeom>
          <a:solidFill>
            <a:srgbClr val="FFF1F2"/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68680"/>
            <a:ext cx="3657600" cy="45720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84048" y="868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Process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57200" y="14630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manually: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02920" y="18745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opens logs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02920" y="23317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investigates errors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2920" y="278892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 summarizes incidents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3337560"/>
            <a:ext cx="3291840" cy="347472"/>
          </a:xfrm>
          <a:prstGeom prst="rect">
            <a:avLst/>
          </a:prstGeom>
          <a:solidFill>
            <a:srgbClr val="FEE2E2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48640" y="3337560"/>
            <a:ext cx="3200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⏱  Time consuming &amp; error-prone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023360" y="2103120"/>
            <a:ext cx="1097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</a:t>
            </a:r>
            <a:endParaRPr lang="en-US" sz="2200" dirty="0"/>
          </a:p>
        </p:txBody>
      </p:sp>
      <p:sp>
        <p:nvSpPr>
          <p:cNvPr id="14" name="Shape 12"/>
          <p:cNvSpPr/>
          <p:nvPr/>
        </p:nvSpPr>
        <p:spPr>
          <a:xfrm>
            <a:off x="5212080" y="868680"/>
            <a:ext cx="3657600" cy="3886200"/>
          </a:xfrm>
          <a:prstGeom prst="rect">
            <a:avLst/>
          </a:prstGeom>
          <a:solidFill>
            <a:srgbClr val="F0FDF4"/>
          </a:solidFill>
          <a:ln w="19050">
            <a:solidFill>
              <a:srgbClr val="00C9A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5212080" y="868680"/>
            <a:ext cx="3657600" cy="457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5321808" y="868680"/>
            <a:ext cx="3474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Agentic AI Workflow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5376672" y="1481328"/>
            <a:ext cx="3291840" cy="411480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5376672" y="14813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Error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656832" y="1883664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376672" y="2066544"/>
            <a:ext cx="329184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5376672" y="2066544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Pull Logs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656832" y="24688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376672" y="2651760"/>
            <a:ext cx="329184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5376672" y="2651760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56832" y="3054096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5376672" y="3236976"/>
            <a:ext cx="329184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5376672" y="3236976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 Summary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656832" y="3639312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5376672" y="3822192"/>
            <a:ext cx="3291840" cy="41148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5376672" y="38221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 Notification</a:t>
            </a:r>
            <a:endParaRPr lang="en-US" sz="1200" dirty="0"/>
          </a:p>
        </p:txBody>
      </p:sp>
      <p:sp>
        <p:nvSpPr>
          <p:cNvPr id="31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6/12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Analysis Result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457200" y="868680"/>
            <a:ext cx="8229600" cy="3931920"/>
          </a:xfrm>
          <a:prstGeom prst="rect">
            <a:avLst/>
          </a:prstGeom>
          <a:solidFill>
            <a:srgbClr val="111827"/>
          </a:solidFill>
          <a:ln w="1905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57200" y="868680"/>
            <a:ext cx="8229600" cy="347472"/>
          </a:xfrm>
          <a:prstGeom prst="rect">
            <a:avLst/>
          </a:prstGeom>
          <a:solidFill>
            <a:srgbClr val="1F2937"/>
          </a:solidFill>
          <a:ln w="12700">
            <a:solidFill>
              <a:srgbClr val="1F2937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685800" y="987552"/>
            <a:ext cx="146304" cy="146304"/>
          </a:xfrm>
          <a:prstGeom prst="ellipse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978408" y="987552"/>
            <a:ext cx="146304" cy="146304"/>
          </a:xfrm>
          <a:prstGeom prst="ellipse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1271016" y="987552"/>
            <a:ext cx="146304" cy="146304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200400" y="868680"/>
            <a:ext cx="3657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CA3A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 Output  —  bash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85800" y="1371600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0A5F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📋  Incident Summary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914400" y="1719072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API /requestcancelprebooking returned HTTP 500 repeatedly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85800" y="2487168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9E0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🔍  Possible Root Cause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914400" y="2834640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External API returned HTML instead of JSON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JSON parsing failure detected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02736"/>
            <a:ext cx="77724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✅  Recommended Actions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914400" y="3950208"/>
            <a:ext cx="74980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Validate response before parsing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Add retry handling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E5E7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Review timeout settings</a:t>
            </a:r>
            <a:endParaRPr lang="en-US" sz="1200" dirty="0"/>
          </a:p>
        </p:txBody>
      </p:sp>
      <p:sp>
        <p:nvSpPr>
          <p:cNvPr id="16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7/12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Impact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228600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365760" y="80467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0" y="804672"/>
            <a:ext cx="6126480" cy="411480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834640" y="804672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Benefit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274320" y="1216152"/>
            <a:ext cx="2286000" cy="841248"/>
          </a:xfrm>
          <a:prstGeom prst="rect">
            <a:avLst/>
          </a:prstGeom>
          <a:solidFill>
            <a:srgbClr val="EFF6FF"/>
          </a:solidFill>
          <a:ln w="254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274320" y="1216152"/>
            <a:ext cx="73152" cy="841248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57200" y="1216152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B82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👨‍💻  Developer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0" y="1216152"/>
            <a:ext cx="6126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2880360" y="1216152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debugging &amp; code review — AI handles boilerplate, test generation &amp; PR reviews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74320" y="2148840"/>
            <a:ext cx="2286000" cy="841248"/>
          </a:xfrm>
          <a:prstGeom prst="rect">
            <a:avLst/>
          </a:prstGeom>
          <a:solidFill>
            <a:srgbClr val="F0FDF4"/>
          </a:solidFill>
          <a:ln w="254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274320" y="2148840"/>
            <a:ext cx="73152" cy="84124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57200" y="2148840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Data Analyst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2148840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2880360" y="2148840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SQL generation, anomaly detection &amp; dashboard creation — shift focus to insights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274320" y="3081528"/>
            <a:ext cx="2286000" cy="841248"/>
          </a:xfrm>
          <a:prstGeom prst="rect">
            <a:avLst/>
          </a:prstGeom>
          <a:solidFill>
            <a:srgbClr val="FFF7ED"/>
          </a:solidFill>
          <a:ln w="254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9" name="Shape 17"/>
          <p:cNvSpPr/>
          <p:nvPr/>
        </p:nvSpPr>
        <p:spPr>
          <a:xfrm>
            <a:off x="274320" y="3081528"/>
            <a:ext cx="73152" cy="8412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/>
          <p:nvPr/>
        </p:nvSpPr>
        <p:spPr>
          <a:xfrm>
            <a:off x="457200" y="3081528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9731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📋  Business Analyst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2743200" y="3081528"/>
            <a:ext cx="61264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2880360" y="3081528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→ BRD automation, stakeholder summaries &amp; action item tracking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74320" y="4014216"/>
            <a:ext cx="2286000" cy="841248"/>
          </a:xfrm>
          <a:prstGeom prst="rect">
            <a:avLst/>
          </a:prstGeom>
          <a:solidFill>
            <a:srgbClr val="FAF5FF"/>
          </a:solidFill>
          <a:ln w="254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4" name="Shape 22"/>
          <p:cNvSpPr/>
          <p:nvPr/>
        </p:nvSpPr>
        <p:spPr>
          <a:xfrm>
            <a:off x="274320" y="4014216"/>
            <a:ext cx="73152" cy="841248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/>
          <p:nvPr/>
        </p:nvSpPr>
        <p:spPr>
          <a:xfrm>
            <a:off x="457200" y="4014216"/>
            <a:ext cx="20116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B5C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 Manager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743200" y="4014216"/>
            <a:ext cx="6126480" cy="841248"/>
          </a:xfrm>
          <a:prstGeom prst="rect">
            <a:avLst/>
          </a:prstGeom>
          <a:solidFill>
            <a:srgbClr val="F4F6F9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2880360" y="4014216"/>
            <a:ext cx="5852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Faster reporting, real-time visibility &amp; AI-governed workflow monitoring</a:t>
            </a:r>
            <a:endParaRPr lang="en-US" sz="1200" dirty="0"/>
          </a:p>
        </p:txBody>
      </p:sp>
      <p:sp>
        <p:nvSpPr>
          <p:cNvPr id="28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8/12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Suggested Technology Stack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96112"/>
            <a:ext cx="28346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96112"/>
            <a:ext cx="2834640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365760" y="8961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🧠  AI Model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11480" y="14630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 / Azure OpenAI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3227832" y="896112"/>
            <a:ext cx="28346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8B5CF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227832" y="896112"/>
            <a:ext cx="2834640" cy="457200"/>
          </a:xfrm>
          <a:prstGeom prst="rect">
            <a:avLst/>
          </a:prstGeom>
          <a:solidFill>
            <a:srgbClr val="8B5CF6"/>
          </a:solidFill>
          <a:ln w="12700">
            <a:solidFill>
              <a:srgbClr val="8B5CF6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319272" y="8961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 Backend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364992" y="14630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.NET 8 Worker / API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181344" y="896112"/>
            <a:ext cx="283464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81344" y="896112"/>
            <a:ext cx="2834640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72784" y="89611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 Logs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18504" y="146304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App Insights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5800" y="2706624"/>
            <a:ext cx="416052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00C9A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85800" y="2706624"/>
            <a:ext cx="4160520" cy="457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77240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🔗  AI Workflow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22960" y="32735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Semantic Kernel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639312" y="2706624"/>
            <a:ext cx="4160520" cy="1554480"/>
          </a:xfrm>
          <a:prstGeom prst="rect">
            <a:avLst/>
          </a:prstGeom>
          <a:solidFill>
            <a:srgbClr val="FFFFFF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639312" y="2706624"/>
            <a:ext cx="4160520" cy="45720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730752" y="2706624"/>
            <a:ext cx="4069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 Notification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776472" y="3273552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Teams Webhook</a:t>
            </a:r>
            <a:endParaRPr lang="en-US" sz="1400" dirty="0"/>
          </a:p>
        </p:txBody>
      </p:sp>
      <p:sp>
        <p:nvSpPr>
          <p:cNvPr id="24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9/12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 Small, Scale Smart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1664208" y="1627632"/>
            <a:ext cx="5815584" cy="6400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1051560" y="1353312"/>
            <a:ext cx="594360" cy="594360"/>
          </a:xfrm>
          <a:prstGeom prst="ellipse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51560" y="13533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274320" y="2121408"/>
            <a:ext cx="2834640" cy="2834640"/>
          </a:xfrm>
          <a:prstGeom prst="rect">
            <a:avLst/>
          </a:prstGeom>
          <a:solidFill>
            <a:srgbClr val="EFF6FF"/>
          </a:solidFill>
          <a:ln w="19050">
            <a:solidFill>
              <a:srgbClr val="3B82F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8" name="Shape 6"/>
          <p:cNvSpPr/>
          <p:nvPr/>
        </p:nvSpPr>
        <p:spPr>
          <a:xfrm>
            <a:off x="274320" y="2121408"/>
            <a:ext cx="2834640" cy="50292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65760" y="21214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554480" y="21214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Assistants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2788920"/>
            <a:ext cx="54864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21792" y="27432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Summarize logs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447288"/>
            <a:ext cx="54864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21792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SQL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4105656"/>
            <a:ext cx="54864" cy="457200"/>
          </a:xfrm>
          <a:prstGeom prst="rect">
            <a:avLst/>
          </a:prstGeom>
          <a:solidFill>
            <a:srgbClr val="3B82F6"/>
          </a:solidFill>
          <a:ln w="12700">
            <a:solidFill>
              <a:srgbClr val="3B82F6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21792" y="40599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code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005072" y="1353312"/>
            <a:ext cx="594360" cy="594360"/>
          </a:xfrm>
          <a:prstGeom prst="ellipse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005072" y="13533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9" name="Shape 17"/>
          <p:cNvSpPr/>
          <p:nvPr/>
        </p:nvSpPr>
        <p:spPr>
          <a:xfrm>
            <a:off x="3227832" y="2121408"/>
            <a:ext cx="2834640" cy="2834640"/>
          </a:xfrm>
          <a:prstGeom prst="rect">
            <a:avLst/>
          </a:prstGeom>
          <a:solidFill>
            <a:srgbClr val="FFF7ED"/>
          </a:solidFill>
          <a:ln w="19050">
            <a:solidFill>
              <a:srgbClr val="F97316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20" name="Shape 18"/>
          <p:cNvSpPr/>
          <p:nvPr/>
        </p:nvSpPr>
        <p:spPr>
          <a:xfrm>
            <a:off x="3227832" y="2121408"/>
            <a:ext cx="2834640" cy="50292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3319272" y="21214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07992" y="21214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Workflows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410712" y="2788920"/>
            <a:ext cx="54864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3575304" y="27432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 analysis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410712" y="3447288"/>
            <a:ext cx="54864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3575304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Meeting summaries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410712" y="4105656"/>
            <a:ext cx="54864" cy="457200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/>
          <p:nvPr/>
        </p:nvSpPr>
        <p:spPr>
          <a:xfrm>
            <a:off x="3575304" y="40599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Auto-reporting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6958584" y="1353312"/>
            <a:ext cx="594360" cy="594360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6958584" y="135331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31" name="Shape 29"/>
          <p:cNvSpPr/>
          <p:nvPr/>
        </p:nvSpPr>
        <p:spPr>
          <a:xfrm>
            <a:off x="6181344" y="2121408"/>
            <a:ext cx="2834640" cy="2834640"/>
          </a:xfrm>
          <a:prstGeom prst="rect">
            <a:avLst/>
          </a:prstGeom>
          <a:solidFill>
            <a:srgbClr val="F0FDF9"/>
          </a:solidFill>
          <a:ln w="19050">
            <a:solidFill>
              <a:srgbClr val="00C9A7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32" name="Shape 30"/>
          <p:cNvSpPr/>
          <p:nvPr/>
        </p:nvSpPr>
        <p:spPr>
          <a:xfrm>
            <a:off x="6181344" y="2121408"/>
            <a:ext cx="2834640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33" name="Text 31"/>
          <p:cNvSpPr/>
          <p:nvPr/>
        </p:nvSpPr>
        <p:spPr>
          <a:xfrm>
            <a:off x="6272784" y="2121408"/>
            <a:ext cx="1188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1400" dirty="0"/>
          </a:p>
        </p:txBody>
      </p:sp>
      <p:sp>
        <p:nvSpPr>
          <p:cNvPr id="34" name="Text 32"/>
          <p:cNvSpPr/>
          <p:nvPr/>
        </p:nvSpPr>
        <p:spPr>
          <a:xfrm>
            <a:off x="7461504" y="2121408"/>
            <a:ext cx="1463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Agentic Workflows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6364224" y="2788920"/>
            <a:ext cx="54864" cy="457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36" name="Text 34"/>
          <p:cNvSpPr/>
          <p:nvPr/>
        </p:nvSpPr>
        <p:spPr>
          <a:xfrm>
            <a:off x="6528816" y="2743200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Autonomous monitoring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6364224" y="3447288"/>
            <a:ext cx="54864" cy="457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38" name="Text 36"/>
          <p:cNvSpPr/>
          <p:nvPr/>
        </p:nvSpPr>
        <p:spPr>
          <a:xfrm>
            <a:off x="6528816" y="3401568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automation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6364224" y="4105656"/>
            <a:ext cx="54864" cy="45720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  <p:txBody>
          <a:bodyPr/>
          <a:p/>
        </p:txBody>
      </p:sp>
      <p:sp>
        <p:nvSpPr>
          <p:cNvPr id="40" name="Text 38"/>
          <p:cNvSpPr/>
          <p:nvPr/>
        </p:nvSpPr>
        <p:spPr>
          <a:xfrm>
            <a:off x="6528816" y="4059936"/>
            <a:ext cx="23774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AI-agent pipelines</a:t>
            </a:r>
            <a:endParaRPr lang="en-US" sz="1200" dirty="0"/>
          </a:p>
        </p:txBody>
      </p:sp>
      <p:sp>
        <p:nvSpPr>
          <p:cNvPr id="41" name="AUTO_PAGE_NUMBER"/>
          <p:cNvSpPr txBox="1"/>
          <p:nvPr/>
        </p:nvSpPr>
        <p:spPr>
          <a:xfrm>
            <a:off x="8321040" y="46222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10/12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13232"/>
          </a:xfrm>
          <a:prstGeom prst="rect">
            <a:avLst/>
          </a:prstGeom>
          <a:solidFill>
            <a:srgbClr val="0D1B2A"/>
          </a:solidFill>
          <a:ln w="12700">
            <a:solidFill>
              <a:srgbClr val="0D1B2A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0"/>
            <a:ext cx="8503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Needs Human Validation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274320" y="896112"/>
            <a:ext cx="4023360" cy="3931920"/>
          </a:xfrm>
          <a:prstGeom prst="rect">
            <a:avLst/>
          </a:prstGeom>
          <a:solidFill>
            <a:srgbClr val="FFF1F2"/>
          </a:solidFill>
          <a:ln w="19050">
            <a:solidFill>
              <a:srgbClr val="EF4444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274320" y="896112"/>
            <a:ext cx="4023360" cy="47548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4048" y="941832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41248" y="896112"/>
            <a:ext cx="3291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Risks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57200" y="1536192"/>
            <a:ext cx="54864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640080" y="150876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Hallucination — AI may generate incorrect data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7200" y="2340864"/>
            <a:ext cx="54864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640080" y="2313432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Wrong recommendations without context</a:t>
            </a:r>
            <a:endParaRPr lang="en-US" sz="1300" dirty="0"/>
          </a:p>
        </p:txBody>
      </p:sp>
      <p:sp>
        <p:nvSpPr>
          <p:cNvPr id="12" name="Shape 9"/>
          <p:cNvSpPr/>
          <p:nvPr/>
        </p:nvSpPr>
        <p:spPr>
          <a:xfrm>
            <a:off x="457200" y="3145536"/>
            <a:ext cx="54864" cy="56692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640080" y="3118104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 concerns with sensitive data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4846320" y="896112"/>
            <a:ext cx="4023360" cy="3931920"/>
          </a:xfrm>
          <a:prstGeom prst="rect">
            <a:avLst/>
          </a:prstGeom>
          <a:solidFill>
            <a:srgbClr val="F0FDF4"/>
          </a:solidFill>
          <a:ln w="19050">
            <a:solidFill>
              <a:srgbClr val="10B981"/>
            </a:solidFill>
            <a:prstDash val="solid"/>
          </a:ln>
          <a:effectLst>
            <a:outerShdw sx="100000" sy="100000" kx="0" ky="0" algn="bl" rotWithShape="0" blurRad="63500" dist="25400" dir="8100000">
              <a:srgbClr val="000000">
                <a:alpha val="10000"/>
              </a:srgbClr>
            </a:outerShdw>
          </a:effectLst>
        </p:spPr>
        <p:txBody>
          <a:bodyPr/>
          <a:p/>
        </p:txBody>
      </p:sp>
      <p:sp>
        <p:nvSpPr>
          <p:cNvPr id="15" name="Shape 12"/>
          <p:cNvSpPr/>
          <p:nvPr/>
        </p:nvSpPr>
        <p:spPr>
          <a:xfrm>
            <a:off x="4846320" y="896112"/>
            <a:ext cx="4023360" cy="47548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56048" y="941832"/>
            <a:ext cx="365760" cy="365760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13248" y="896112"/>
            <a:ext cx="3383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Best Practices</a:t>
            </a:r>
            <a:endParaRPr lang="en-US" sz="1500" dirty="0"/>
          </a:p>
        </p:txBody>
      </p:sp>
      <p:sp>
        <p:nvSpPr>
          <p:cNvPr id="18" name="Shape 14"/>
          <p:cNvSpPr/>
          <p:nvPr/>
        </p:nvSpPr>
        <p:spPr>
          <a:xfrm>
            <a:off x="5029200" y="1600200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5394960" y="15087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require human review of AI outputs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5029200" y="2404872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5394960" y="231343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exposing sensitive / personal data to AI</a:t>
            </a:r>
            <a:endParaRPr lang="en-US" sz="1300" dirty="0"/>
          </a:p>
        </p:txBody>
      </p:sp>
      <p:sp>
        <p:nvSpPr>
          <p:cNvPr id="22" name="Shape 18"/>
          <p:cNvSpPr/>
          <p:nvPr/>
        </p:nvSpPr>
        <p:spPr>
          <a:xfrm>
            <a:off x="5029200" y="3209544"/>
            <a:ext cx="256032" cy="256032"/>
          </a:xfrm>
          <a:prstGeom prst="ellipse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5394960" y="31181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AI as assistant, not sole decision maker</a:t>
            </a:r>
            <a:endParaRPr lang="en-US" sz="1300" dirty="0"/>
          </a:p>
        </p:txBody>
      </p:sp>
      <p:sp>
        <p:nvSpPr>
          <p:cNvPr id="24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11/12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1B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12/12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" y="914400"/>
            <a:ext cx="9875520" cy="4389120"/>
          </a:xfrm>
          <a:prstGeom prst="roundRect">
            <a:avLst/>
          </a:prstGeom>
          <a:solidFill>
            <a:srgbClr val="050F23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88720" y="1280160"/>
            <a:ext cx="8686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3000" b="1">
                <a:solidFill>
                  <a:srgbClr val="22D3EE"/>
                </a:solidFill>
              </a:defRPr>
            </a:pPr>
            <a:r>
              <a:t>Key Takeaway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2011680"/>
            <a:ext cx="8229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</a:defRPr>
            </a:pPr>
            <a:r>
              <a:t>AI is moving from</a:t>
            </a:r>
          </a:p>
          <a:p>
            <a:pPr algn="l">
              <a:defRPr sz="2400" b="1">
                <a:solidFill>
                  <a:srgbClr val="3B82F6"/>
                </a:solidFill>
              </a:defRPr>
            </a:pPr>
            <a:r>
              <a:t>“Answering Questions”  →  “Performing Real Tasks”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11680" y="3246120"/>
            <a:ext cx="6400800" cy="27432"/>
          </a:xfrm>
          <a:prstGeom prst="rect">
            <a:avLst/>
          </a:prstGeom>
          <a:solidFill>
            <a:srgbClr val="22D3EE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0" y="3657600"/>
            <a:ext cx="804672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800" i="1">
                <a:solidFill>
                  <a:srgbClr val="FFFFFF"/>
                </a:solidFill>
              </a:defRPr>
            </a:pPr>
            <a:r>
              <a:t>“The future is not AI replacing humans.</a:t>
            </a:r>
            <a:br/>
            <a:r>
              <a:t>It’s humans working together with AI agents.”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743200" y="4846320"/>
            <a:ext cx="45720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200" i="1">
                <a:solidFill>
                  <a:srgbClr val="94A3B8"/>
                </a:solidFill>
              </a:defRPr>
            </a:pPr>
            <a:r>
              <a:t>AI is becoming a teammate — not just a tool.</a:t>
            </a:r>
          </a:p>
        </p:txBody>
      </p:sp>
      <p:sp>
        <p:nvSpPr>
          <p:cNvPr id="26" name="AUTO_PAGE_NUMBER"/>
          <p:cNvSpPr txBox="1"/>
          <p:nvPr/>
        </p:nvSpPr>
        <p:spPr>
          <a:xfrm>
            <a:off x="8321040" y="4850892"/>
            <a:ext cx="64008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94A3B8"/>
                </a:solidFill>
              </a:rPr>
              <a:t>12/12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4864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09728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Modern Agentic AI Architecture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2286000"/>
            <a:ext cx="173736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App Logs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743200" y="2286000"/>
            <a:ext cx="173736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AI Agent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46320" y="2286000"/>
            <a:ext cx="173736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AI Analysis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0" y="2286000"/>
            <a:ext cx="1737360" cy="914400"/>
          </a:xfrm>
          <a:prstGeom prst="roundRect">
            <a:avLst/>
          </a:prstGeom>
          <a:solidFill>
            <a:srgbClr val="DBEAFE"/>
          </a:solidFill>
          <a:ln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800" b="1">
                <a:solidFill>
                  <a:srgbClr val="0F172A"/>
                </a:solidFill>
              </a:defRPr>
            </a:pPr>
            <a:r>
              <a:t>Teams Notification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103120" y="248716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06240" y="248716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2487168"/>
            <a:ext cx="3657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10B981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023360"/>
            <a:ext cx="91440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i="1">
                <a:solidFill>
                  <a:srgbClr val="0F172A"/>
                </a:solidFill>
              </a:defRPr>
            </a:pPr>
            <a:r>
              <a:t>AI agents can automatically analyze incidents, generate insights, and notify teams in real time.</a:t>
            </a:r>
          </a:p>
        </p:txBody>
      </p:sp>
      <p:sp>
        <p:nvSpPr>
          <p:cNvPr id="12" name="AUTO_PAGE_NUMBER"/>
          <p:cNvSpPr txBox="1"/>
          <p:nvPr/>
        </p:nvSpPr>
        <p:spPr>
          <a:xfrm>
            <a:off x="8229600" y="4850892"/>
            <a:ext cx="731520" cy="1828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64748B"/>
                </a:solidFill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AI – The Next Evolution</dc:title>
  <dc:subject>PptxGenJS Presentation</dc:subject>
  <dc:creator>PptxGenJS</dc:creator>
  <cp:lastModifiedBy>PptxGenJS</cp:lastModifiedBy>
  <cp:revision>1</cp:revision>
  <dcterms:created xsi:type="dcterms:W3CDTF">2026-05-19T07:58:16Z</dcterms:created>
  <dcterms:modified xsi:type="dcterms:W3CDTF">2026-05-19T07:58:16Z</dcterms:modified>
</cp:coreProperties>
</file>